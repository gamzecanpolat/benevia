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lvetica World" charset="1" panose="020B0500040000020004"/>
      <p:regular r:id="rId16"/>
    </p:embeddedFont>
    <p:embeddedFont>
      <p:font typeface="Georgia Pro Condensed" charset="1" panose="02040506050405020303"/>
      <p:regular r:id="rId17"/>
    </p:embeddedFont>
    <p:embeddedFont>
      <p:font typeface="Helvetica World Bold" charset="1" panose="020B08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47A5A"/>
        </a:solidFill>
      </p:bgPr>
    </p:bg>
    <p:spTree>
      <p:nvGrpSpPr>
        <p:cNvPr id="1" name=""/>
        <p:cNvGrpSpPr/>
        <p:nvPr/>
      </p:nvGrpSpPr>
      <p:grpSpPr>
        <a:xfrm>
          <a:off x="0" y="0"/>
          <a:ext cx="0" cy="0"/>
          <a:chOff x="0" y="0"/>
          <a:chExt cx="0" cy="0"/>
        </a:xfrm>
      </p:grpSpPr>
      <p:grpSp>
        <p:nvGrpSpPr>
          <p:cNvPr name="Group 2" id="2"/>
          <p:cNvGrpSpPr/>
          <p:nvPr/>
        </p:nvGrpSpPr>
        <p:grpSpPr>
          <a:xfrm rot="0">
            <a:off x="0" y="-12700"/>
            <a:ext cx="9144000" cy="10299700"/>
            <a:chOff x="0" y="0"/>
            <a:chExt cx="786406" cy="885799"/>
          </a:xfrm>
        </p:grpSpPr>
        <p:sp>
          <p:nvSpPr>
            <p:cNvPr name="Freeform 3" id="3"/>
            <p:cNvSpPr/>
            <p:nvPr/>
          </p:nvSpPr>
          <p:spPr>
            <a:xfrm flipH="false" flipV="false" rot="0">
              <a:off x="0" y="0"/>
              <a:ext cx="786406" cy="885799"/>
            </a:xfrm>
            <a:custGeom>
              <a:avLst/>
              <a:gdLst/>
              <a:ahLst/>
              <a:cxnLst/>
              <a:rect r="r" b="b" t="t" l="l"/>
              <a:pathLst>
                <a:path h="885799" w="786406">
                  <a:moveTo>
                    <a:pt x="0" y="0"/>
                  </a:moveTo>
                  <a:lnTo>
                    <a:pt x="786406" y="0"/>
                  </a:lnTo>
                  <a:lnTo>
                    <a:pt x="786406" y="885799"/>
                  </a:lnTo>
                  <a:lnTo>
                    <a:pt x="0" y="885799"/>
                  </a:lnTo>
                  <a:close/>
                </a:path>
              </a:pathLst>
            </a:custGeom>
            <a:blipFill>
              <a:blip r:embed="rId2"/>
              <a:stretch>
                <a:fillRect l="-6319" t="0" r="-6319" b="0"/>
              </a:stretch>
            </a:blipFill>
          </p:spPr>
        </p:sp>
      </p:grpSp>
      <p:grpSp>
        <p:nvGrpSpPr>
          <p:cNvPr name="Group 4" id="4"/>
          <p:cNvGrpSpPr/>
          <p:nvPr/>
        </p:nvGrpSpPr>
        <p:grpSpPr>
          <a:xfrm rot="0">
            <a:off x="10007766" y="709342"/>
            <a:ext cx="3413651" cy="6799068"/>
            <a:chOff x="0" y="0"/>
            <a:chExt cx="631799" cy="1258373"/>
          </a:xfrm>
        </p:grpSpPr>
        <p:sp>
          <p:nvSpPr>
            <p:cNvPr name="Freeform 5" id="5"/>
            <p:cNvSpPr/>
            <p:nvPr/>
          </p:nvSpPr>
          <p:spPr>
            <a:xfrm flipH="false" flipV="false" rot="0">
              <a:off x="0" y="0"/>
              <a:ext cx="631799" cy="1258373"/>
            </a:xfrm>
            <a:custGeom>
              <a:avLst/>
              <a:gdLst/>
              <a:ahLst/>
              <a:cxnLst/>
              <a:rect r="r" b="b" t="t" l="l"/>
              <a:pathLst>
                <a:path h="1258373" w="631799">
                  <a:moveTo>
                    <a:pt x="45359" y="0"/>
                  </a:moveTo>
                  <a:lnTo>
                    <a:pt x="586441" y="0"/>
                  </a:lnTo>
                  <a:cubicBezTo>
                    <a:pt x="611491" y="0"/>
                    <a:pt x="631799" y="20308"/>
                    <a:pt x="631799" y="45359"/>
                  </a:cubicBezTo>
                  <a:lnTo>
                    <a:pt x="631799" y="1213014"/>
                  </a:lnTo>
                  <a:cubicBezTo>
                    <a:pt x="631799" y="1238065"/>
                    <a:pt x="611491" y="1258373"/>
                    <a:pt x="586441" y="1258373"/>
                  </a:cubicBezTo>
                  <a:lnTo>
                    <a:pt x="45359" y="1258373"/>
                  </a:lnTo>
                  <a:cubicBezTo>
                    <a:pt x="20308" y="1258373"/>
                    <a:pt x="0" y="1238065"/>
                    <a:pt x="0" y="1213014"/>
                  </a:cubicBezTo>
                  <a:lnTo>
                    <a:pt x="0" y="45359"/>
                  </a:lnTo>
                  <a:cubicBezTo>
                    <a:pt x="0" y="20308"/>
                    <a:pt x="20308" y="0"/>
                    <a:pt x="45359" y="0"/>
                  </a:cubicBezTo>
                  <a:close/>
                </a:path>
              </a:pathLst>
            </a:custGeom>
            <a:blipFill>
              <a:blip r:embed="rId3"/>
              <a:stretch>
                <a:fillRect l="0" t="-5863" r="0" b="-5863"/>
              </a:stretch>
            </a:blipFill>
          </p:spPr>
        </p:sp>
      </p:grpSp>
      <p:grpSp>
        <p:nvGrpSpPr>
          <p:cNvPr name="Group 6" id="6"/>
          <p:cNvGrpSpPr/>
          <p:nvPr/>
        </p:nvGrpSpPr>
        <p:grpSpPr>
          <a:xfrm rot="0">
            <a:off x="14057565" y="2660352"/>
            <a:ext cx="3413651" cy="6799068"/>
            <a:chOff x="0" y="0"/>
            <a:chExt cx="812800" cy="1618877"/>
          </a:xfrm>
        </p:grpSpPr>
        <p:sp>
          <p:nvSpPr>
            <p:cNvPr name="Freeform 7" id="7"/>
            <p:cNvSpPr/>
            <p:nvPr/>
          </p:nvSpPr>
          <p:spPr>
            <a:xfrm flipH="false" flipV="false" rot="0">
              <a:off x="0" y="0"/>
              <a:ext cx="812800" cy="1618877"/>
            </a:xfrm>
            <a:custGeom>
              <a:avLst/>
              <a:gdLst/>
              <a:ahLst/>
              <a:cxnLst/>
              <a:rect r="r" b="b" t="t" l="l"/>
              <a:pathLst>
                <a:path h="1618877" w="812800">
                  <a:moveTo>
                    <a:pt x="52162" y="0"/>
                  </a:moveTo>
                  <a:lnTo>
                    <a:pt x="760638" y="0"/>
                  </a:lnTo>
                  <a:cubicBezTo>
                    <a:pt x="774472" y="0"/>
                    <a:pt x="787740" y="5496"/>
                    <a:pt x="797522" y="15278"/>
                  </a:cubicBezTo>
                  <a:cubicBezTo>
                    <a:pt x="807304" y="25060"/>
                    <a:pt x="812800" y="38328"/>
                    <a:pt x="812800" y="52162"/>
                  </a:cubicBezTo>
                  <a:lnTo>
                    <a:pt x="812800" y="1566715"/>
                  </a:lnTo>
                  <a:cubicBezTo>
                    <a:pt x="812800" y="1580549"/>
                    <a:pt x="807304" y="1593817"/>
                    <a:pt x="797522" y="1603599"/>
                  </a:cubicBezTo>
                  <a:cubicBezTo>
                    <a:pt x="787740" y="1613382"/>
                    <a:pt x="774472" y="1618877"/>
                    <a:pt x="760638" y="1618877"/>
                  </a:cubicBezTo>
                  <a:lnTo>
                    <a:pt x="52162" y="1618877"/>
                  </a:lnTo>
                  <a:cubicBezTo>
                    <a:pt x="23354" y="1618877"/>
                    <a:pt x="0" y="1595524"/>
                    <a:pt x="0" y="1566715"/>
                  </a:cubicBezTo>
                  <a:lnTo>
                    <a:pt x="0" y="52162"/>
                  </a:lnTo>
                  <a:cubicBezTo>
                    <a:pt x="0" y="38328"/>
                    <a:pt x="5496" y="25060"/>
                    <a:pt x="15278" y="15278"/>
                  </a:cubicBezTo>
                  <a:cubicBezTo>
                    <a:pt x="25060" y="5496"/>
                    <a:pt x="38328" y="0"/>
                    <a:pt x="52162" y="0"/>
                  </a:cubicBezTo>
                  <a:close/>
                </a:path>
              </a:pathLst>
            </a:custGeom>
            <a:blipFill>
              <a:blip r:embed="rId4"/>
              <a:stretch>
                <a:fillRect l="0" t="-5863" r="0" b="-586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547A5A"/>
                </a:solidFill>
                <a:latin typeface="Helvetica World"/>
                <a:ea typeface="Helvetica World"/>
                <a:cs typeface="Helvetica World"/>
                <a:sym typeface="Helvetica World"/>
              </a:rPr>
              <a:t>2</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2671762" y="1986004"/>
            <a:ext cx="12944475" cy="5675249"/>
            <a:chOff x="0" y="0"/>
            <a:chExt cx="17259300" cy="7566998"/>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547A5A"/>
                  </a:solidFill>
                  <a:latin typeface="Georgia Pro Condensed"/>
                  <a:ea typeface="Georgia Pro Condensed"/>
                  <a:cs typeface="Georgia Pro Condensed"/>
                  <a:sym typeface="Georgia Pro Condensed"/>
                </a:rPr>
                <a:t>Proje Kapsamı</a:t>
              </a:r>
            </a:p>
          </p:txBody>
        </p:sp>
        <p:sp>
          <p:nvSpPr>
            <p:cNvPr name="TextBox 8" id="8"/>
            <p:cNvSpPr txBox="true"/>
            <p:nvPr/>
          </p:nvSpPr>
          <p:spPr>
            <a:xfrm rot="0">
              <a:off x="0" y="2197212"/>
              <a:ext cx="17259300" cy="825500"/>
            </a:xfrm>
            <a:prstGeom prst="rect">
              <a:avLst/>
            </a:prstGeom>
          </p:spPr>
          <p:txBody>
            <a:bodyPr anchor="t" rtlCol="false" tIns="0" lIns="0" bIns="0" rIns="0">
              <a:spAutoFit/>
            </a:bodyPr>
            <a:lstStyle/>
            <a:p>
              <a:pPr algn="l" marL="0" indent="0" lvl="0">
                <a:lnSpc>
                  <a:spcPts val="4428"/>
                </a:lnSpc>
                <a:spcBef>
                  <a:spcPct val="0"/>
                </a:spcBef>
              </a:pPr>
              <a:r>
                <a:rPr lang="en-US" b="true" sz="3690" spc="-55">
                  <a:solidFill>
                    <a:srgbClr val="547A5A"/>
                  </a:solidFill>
                  <a:latin typeface="Helvetica World Bold"/>
                  <a:ea typeface="Helvetica World Bold"/>
                  <a:cs typeface="Helvetica World Bold"/>
                  <a:sym typeface="Helvetica World Bold"/>
                </a:rPr>
                <a:t>Kişiselleştirilmiş Yemek Önerileri Sistemi</a:t>
              </a:r>
            </a:p>
          </p:txBody>
        </p:sp>
        <p:sp>
          <p:nvSpPr>
            <p:cNvPr name="TextBox 9" id="9"/>
            <p:cNvSpPr txBox="true"/>
            <p:nvPr/>
          </p:nvSpPr>
          <p:spPr>
            <a:xfrm rot="0">
              <a:off x="0" y="3307291"/>
              <a:ext cx="14888037" cy="4259707"/>
            </a:xfrm>
            <a:prstGeom prst="rect">
              <a:avLst/>
            </a:prstGeom>
          </p:spPr>
          <p:txBody>
            <a:bodyPr anchor="t" rtlCol="false" tIns="0" lIns="0" bIns="0" rIns="0">
              <a:spAutoFit/>
            </a:bodyPr>
            <a:lstStyle/>
            <a:p>
              <a:pPr algn="l" marL="0" indent="0" lvl="0">
                <a:lnSpc>
                  <a:spcPts val="5166"/>
                </a:lnSpc>
              </a:pPr>
              <a:r>
                <a:rPr lang="en-US" sz="3690" spc="-55">
                  <a:solidFill>
                    <a:srgbClr val="547A5A"/>
                  </a:solidFill>
                  <a:latin typeface="Helvetica World"/>
                  <a:ea typeface="Helvetica World"/>
                  <a:cs typeface="Helvetica World"/>
                  <a:sym typeface="Helvetica World"/>
                </a:rPr>
                <a:t>Proje, hastalık türlerine göre bireylere uygun yiyecek önerileri sunan, yasaklı ve izin verilen besinleri listeleyen ve haftalık öğün planları oluşturan akıllı bir sistemdir. Kullanıcının yaşı, kilosu, boyu, cinsiyeti ve hastalığına göre özel bir beslenme yönlendirmesi sağlar.</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5" id="5"/>
          <p:cNvSpPr txBox="true"/>
          <p:nvPr/>
        </p:nvSpPr>
        <p:spPr>
          <a:xfrm rot="0">
            <a:off x="2801686" y="3486942"/>
            <a:ext cx="13934554" cy="3859149"/>
          </a:xfrm>
          <a:prstGeom prst="rect">
            <a:avLst/>
          </a:prstGeom>
        </p:spPr>
        <p:txBody>
          <a:bodyPr anchor="t" rtlCol="false" tIns="0" lIns="0" bIns="0" rIns="0">
            <a:spAutoFit/>
          </a:bodyPr>
          <a:lstStyle/>
          <a:p>
            <a:pPr algn="l">
              <a:lnSpc>
                <a:spcPts val="5166"/>
              </a:lnSpc>
              <a:spcBef>
                <a:spcPct val="0"/>
              </a:spcBef>
            </a:pPr>
            <a:r>
              <a:rPr lang="en-US" sz="3690">
                <a:solidFill>
                  <a:srgbClr val="3C6142"/>
                </a:solidFill>
                <a:latin typeface="Helvetica World"/>
                <a:ea typeface="Helvetica World"/>
                <a:cs typeface="Helvetica World"/>
                <a:sym typeface="Helvetica World"/>
              </a:rPr>
              <a:t>Amaç, bireylerin profesyonel desteğe ihtiyaç duymadan doğru beslenme planına ulaşmasını sağlamaktır. Kronik hastalıkların beslenme üzerindeki etkileri dikkate alınarak, yanlış beslenme kaynaklı sağlık problemlerinin önüne geçmek hedeflenmiştir. Uygulama, kullanımı kolay arayüzü sayesinde herkes tarafından erişilebilir bir sağlık rehberidir.</a:t>
            </a:r>
          </a:p>
        </p:txBody>
      </p:sp>
      <p:sp>
        <p:nvSpPr>
          <p:cNvPr name="TextBox 6" id="6"/>
          <p:cNvSpPr txBox="true"/>
          <p:nvPr/>
        </p:nvSpPr>
        <p:spPr>
          <a:xfrm rot="0">
            <a:off x="2801686" y="1946102"/>
            <a:ext cx="9014926" cy="10699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547A5A"/>
                </a:solidFill>
                <a:latin typeface="Georgia Pro Condensed"/>
                <a:ea typeface="Georgia Pro Condensed"/>
                <a:cs typeface="Georgia Pro Condensed"/>
                <a:sym typeface="Georgia Pro Condensed"/>
              </a:rPr>
              <a:t>Projenin Amacı</a:t>
            </a:r>
          </a:p>
        </p:txBody>
      </p:sp>
      <p:sp>
        <p:nvSpPr>
          <p:cNvPr name="Freeform 7" id="7"/>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A7BFA4"/>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76275" y="666750"/>
            <a:ext cx="16954500" cy="8953500"/>
            <a:chOff x="0" y="0"/>
            <a:chExt cx="4465383" cy="2358123"/>
          </a:xfrm>
        </p:grpSpPr>
        <p:sp>
          <p:nvSpPr>
            <p:cNvPr name="Freeform 6" id="6"/>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7" id="7"/>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8" id="8"/>
          <p:cNvSpPr txBox="true"/>
          <p:nvPr/>
        </p:nvSpPr>
        <p:spPr>
          <a:xfrm rot="0">
            <a:off x="2488748" y="2174000"/>
            <a:ext cx="10417703" cy="106997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a:solidFill>
                  <a:srgbClr val="547A5A"/>
                </a:solidFill>
                <a:latin typeface="Georgia Pro Condensed"/>
                <a:ea typeface="Georgia Pro Condensed"/>
                <a:cs typeface="Georgia Pro Condensed"/>
                <a:sym typeface="Georgia Pro Condensed"/>
              </a:rPr>
              <a:t>Kullanılan Teknolojiler: </a:t>
            </a:r>
          </a:p>
        </p:txBody>
      </p:sp>
      <p:sp>
        <p:nvSpPr>
          <p:cNvPr name="TextBox 9" id="9"/>
          <p:cNvSpPr txBox="true"/>
          <p:nvPr/>
        </p:nvSpPr>
        <p:spPr>
          <a:xfrm rot="0">
            <a:off x="2488748" y="3776105"/>
            <a:ext cx="13902306" cy="3211449"/>
          </a:xfrm>
          <a:prstGeom prst="rect">
            <a:avLst/>
          </a:prstGeom>
        </p:spPr>
        <p:txBody>
          <a:bodyPr anchor="t" rtlCol="false" tIns="0" lIns="0" bIns="0" rIns="0">
            <a:spAutoFit/>
          </a:bodyPr>
          <a:lstStyle/>
          <a:p>
            <a:pPr algn="l">
              <a:lnSpc>
                <a:spcPts val="5166"/>
              </a:lnSpc>
              <a:spcBef>
                <a:spcPct val="0"/>
              </a:spcBef>
            </a:pPr>
            <a:r>
              <a:rPr lang="en-US" sz="3690">
                <a:solidFill>
                  <a:srgbClr val="547A5A"/>
                </a:solidFill>
                <a:latin typeface="Helvetica World"/>
                <a:ea typeface="Helvetica World"/>
                <a:cs typeface="Helvetica World"/>
                <a:sym typeface="Helvetica World"/>
              </a:rPr>
              <a:t>Flutter: Mobil uygulama arayüzü geliştirme.</a:t>
            </a:r>
          </a:p>
          <a:p>
            <a:pPr algn="l">
              <a:lnSpc>
                <a:spcPts val="5166"/>
              </a:lnSpc>
              <a:spcBef>
                <a:spcPct val="0"/>
              </a:spcBef>
            </a:pPr>
            <a:r>
              <a:rPr lang="en-US" sz="3690">
                <a:solidFill>
                  <a:srgbClr val="547A5A"/>
                </a:solidFill>
                <a:latin typeface="Helvetica World"/>
                <a:ea typeface="Helvetica World"/>
                <a:cs typeface="Helvetica World"/>
                <a:sym typeface="Helvetica World"/>
              </a:rPr>
              <a:t>Firebase Authentication: Kullanıcı giriş ve güvenli kimlik doğrulama.</a:t>
            </a:r>
          </a:p>
          <a:p>
            <a:pPr algn="l">
              <a:lnSpc>
                <a:spcPts val="5166"/>
              </a:lnSpc>
              <a:spcBef>
                <a:spcPct val="0"/>
              </a:spcBef>
            </a:pPr>
            <a:r>
              <a:rPr lang="en-US" sz="3690">
                <a:solidFill>
                  <a:srgbClr val="547A5A"/>
                </a:solidFill>
                <a:latin typeface="Helvetica World"/>
                <a:ea typeface="Helvetica World"/>
                <a:cs typeface="Helvetica World"/>
                <a:sym typeface="Helvetica World"/>
              </a:rPr>
              <a:t>Firestore: NoSQL tabanlı veri depolama.</a:t>
            </a:r>
          </a:p>
          <a:p>
            <a:pPr algn="l">
              <a:lnSpc>
                <a:spcPts val="5166"/>
              </a:lnSpc>
              <a:spcBef>
                <a:spcPct val="0"/>
              </a:spcBef>
            </a:pPr>
            <a:r>
              <a:rPr lang="en-US" sz="3690">
                <a:solidFill>
                  <a:srgbClr val="547A5A"/>
                </a:solidFill>
                <a:latin typeface="Helvetica World"/>
                <a:ea typeface="Helvetica World"/>
                <a:cs typeface="Helvetica World"/>
                <a:sym typeface="Helvetica World"/>
              </a:rPr>
              <a:t>Python &amp; Flask: Backend API'lerinin geliştirilmesi.</a:t>
            </a:r>
          </a:p>
          <a:p>
            <a:pPr algn="l">
              <a:lnSpc>
                <a:spcPts val="5166"/>
              </a:lnSpc>
              <a:spcBef>
                <a:spcPct val="0"/>
              </a:spcBef>
            </a:pPr>
            <a:r>
              <a:rPr lang="en-US" sz="3690">
                <a:solidFill>
                  <a:srgbClr val="547A5A"/>
                </a:solidFill>
                <a:latin typeface="Helvetica World"/>
                <a:ea typeface="Helvetica World"/>
                <a:cs typeface="Helvetica World"/>
                <a:sym typeface="Helvetica World"/>
              </a:rPr>
              <a:t>Firebase Admin SDK: Backend tarafında token doğrulama.</a:t>
            </a:r>
          </a:p>
        </p:txBody>
      </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5" id="5"/>
          <p:cNvSpPr txBox="true"/>
          <p:nvPr/>
        </p:nvSpPr>
        <p:spPr>
          <a:xfrm rot="0">
            <a:off x="2801686" y="1897730"/>
            <a:ext cx="6886575" cy="207962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a:solidFill>
                  <a:srgbClr val="547A5A"/>
                </a:solidFill>
                <a:latin typeface="Georgia Pro Condensed"/>
                <a:ea typeface="Georgia Pro Condensed"/>
                <a:cs typeface="Georgia Pro Condensed"/>
                <a:sym typeface="Georgia Pro Condensed"/>
              </a:rPr>
              <a:t>Backend ve Veritabanı Ekibi</a:t>
            </a:r>
          </a:p>
        </p:txBody>
      </p:sp>
      <p:sp>
        <p:nvSpPr>
          <p:cNvPr name="TextBox 6" id="6"/>
          <p:cNvSpPr txBox="true"/>
          <p:nvPr/>
        </p:nvSpPr>
        <p:spPr>
          <a:xfrm rot="0">
            <a:off x="2801686" y="4400034"/>
            <a:ext cx="11078782" cy="2563749"/>
          </a:xfrm>
          <a:prstGeom prst="rect">
            <a:avLst/>
          </a:prstGeom>
        </p:spPr>
        <p:txBody>
          <a:bodyPr anchor="t" rtlCol="false" tIns="0" lIns="0" bIns="0" rIns="0">
            <a:spAutoFit/>
          </a:bodyPr>
          <a:lstStyle/>
          <a:p>
            <a:pPr algn="l" marL="0" indent="0" lvl="0">
              <a:lnSpc>
                <a:spcPts val="5166"/>
              </a:lnSpc>
            </a:pPr>
            <a:r>
              <a:rPr lang="en-US" sz="3690" spc="-55" strike="noStrike" u="none">
                <a:solidFill>
                  <a:srgbClr val="547A5A"/>
                </a:solidFill>
                <a:latin typeface="Helvetica World"/>
                <a:ea typeface="Helvetica World"/>
                <a:cs typeface="Helvetica World"/>
                <a:sym typeface="Helvetica World"/>
              </a:rPr>
              <a:t>Backend ve veritabanı ekibi, kullanıcı kimlik doğrulama ve veri depolama için Firebase Firestore kullanıyor. Bu, sistemin güvenliğini ve veri bütünlüğünü sağlamak amacıyla kritik bir rol oynamaktadır.</a:t>
            </a:r>
          </a:p>
        </p:txBody>
      </p:sp>
      <p:sp>
        <p:nvSpPr>
          <p:cNvPr name="Freeform 7" id="7"/>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5" id="5"/>
          <p:cNvSpPr txBox="true"/>
          <p:nvPr/>
        </p:nvSpPr>
        <p:spPr>
          <a:xfrm rot="0">
            <a:off x="2801686" y="2283032"/>
            <a:ext cx="9819356" cy="207962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a:solidFill>
                  <a:srgbClr val="547A5A"/>
                </a:solidFill>
                <a:latin typeface="Georgia Pro Condensed"/>
                <a:ea typeface="Georgia Pro Condensed"/>
                <a:cs typeface="Georgia Pro Condensed"/>
                <a:sym typeface="Georgia Pro Condensed"/>
              </a:rPr>
              <a:t>Frontend Ekibi: Uygulama Geliştirme</a:t>
            </a:r>
          </a:p>
        </p:txBody>
      </p:sp>
      <p:sp>
        <p:nvSpPr>
          <p:cNvPr name="TextBox 6" id="6"/>
          <p:cNvSpPr txBox="true"/>
          <p:nvPr/>
        </p:nvSpPr>
        <p:spPr>
          <a:xfrm rot="0">
            <a:off x="2801686" y="5078957"/>
            <a:ext cx="11763803" cy="1916006"/>
          </a:xfrm>
          <a:prstGeom prst="rect">
            <a:avLst/>
          </a:prstGeom>
        </p:spPr>
        <p:txBody>
          <a:bodyPr anchor="t" rtlCol="false" tIns="0" lIns="0" bIns="0" rIns="0">
            <a:spAutoFit/>
          </a:bodyPr>
          <a:lstStyle/>
          <a:p>
            <a:pPr algn="just" marL="0" indent="0" lvl="0">
              <a:lnSpc>
                <a:spcPts val="5168"/>
              </a:lnSpc>
            </a:pPr>
            <a:r>
              <a:rPr lang="en-US" sz="3691" spc="-55" strike="noStrike" u="none">
                <a:solidFill>
                  <a:srgbClr val="547A5A"/>
                </a:solidFill>
                <a:latin typeface="Helvetica World"/>
                <a:ea typeface="Helvetica World"/>
                <a:cs typeface="Helvetica World"/>
                <a:sym typeface="Helvetica World"/>
              </a:rPr>
              <a:t>Frontend ekibimiz, mobil uygulamanın kullanıcı dostu arayüzünü geliştirmek için Flutter ve Android Studio kullanarak Android ve iOS platformlarında çalışmaktadır. </a:t>
            </a:r>
          </a:p>
        </p:txBody>
      </p:sp>
      <p:sp>
        <p:nvSpPr>
          <p:cNvPr name="Freeform 7" id="7"/>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801686" y="2268161"/>
            <a:ext cx="9819356" cy="10699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547A5A"/>
                </a:solidFill>
                <a:latin typeface="Georgia Pro Condensed"/>
                <a:ea typeface="Georgia Pro Condensed"/>
                <a:cs typeface="Georgia Pro Condensed"/>
                <a:sym typeface="Georgia Pro Condensed"/>
              </a:rPr>
              <a:t>Sistem Mimarisi</a:t>
            </a:r>
          </a:p>
        </p:txBody>
      </p:sp>
      <p:sp>
        <p:nvSpPr>
          <p:cNvPr name="TextBox 7" id="7"/>
          <p:cNvSpPr txBox="true"/>
          <p:nvPr/>
        </p:nvSpPr>
        <p:spPr>
          <a:xfrm rot="0">
            <a:off x="2801686" y="3851172"/>
            <a:ext cx="12668504" cy="3859106"/>
          </a:xfrm>
          <a:prstGeom prst="rect">
            <a:avLst/>
          </a:prstGeom>
        </p:spPr>
        <p:txBody>
          <a:bodyPr anchor="t" rtlCol="false" tIns="0" lIns="0" bIns="0" rIns="0">
            <a:spAutoFit/>
          </a:bodyPr>
          <a:lstStyle/>
          <a:p>
            <a:pPr algn="just" marL="0" indent="0" lvl="0">
              <a:lnSpc>
                <a:spcPts val="5168"/>
              </a:lnSpc>
            </a:pPr>
            <a:r>
              <a:rPr lang="en-US" sz="3691" spc="-55">
                <a:solidFill>
                  <a:srgbClr val="547A5A"/>
                </a:solidFill>
                <a:latin typeface="Helvetica World"/>
                <a:ea typeface="Helvetica World"/>
                <a:cs typeface="Helvetica World"/>
                <a:sym typeface="Helvetica World"/>
              </a:rPr>
              <a:t>Uygulama; </a:t>
            </a:r>
            <a:r>
              <a:rPr lang="en-US" sz="3691" spc="-55" strike="noStrike" u="none">
                <a:solidFill>
                  <a:srgbClr val="547A5A"/>
                </a:solidFill>
                <a:latin typeface="Helvetica World"/>
                <a:ea typeface="Helvetica World"/>
                <a:cs typeface="Helvetica World"/>
                <a:sym typeface="Helvetica World"/>
              </a:rPr>
              <a:t>Flutter arayüzü, Firebase kimlik doğrulaması ve Flask tabanlı backend yapısıyla entegre çalışır. Veriler Firestore üzerinde koleksiyon–doküman yapısında tutulur. Her istek, kullanıcı token’ı doğrulandıktan sonra backend tarafından işlenir ve güvenli veri akışı sağlanır.</a:t>
            </a:r>
          </a:p>
          <a:p>
            <a:pPr algn="just" marL="0" indent="0" lvl="0">
              <a:lnSpc>
                <a:spcPts val="516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801686" y="2333075"/>
            <a:ext cx="9819356" cy="10699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547A5A"/>
                </a:solidFill>
                <a:latin typeface="Georgia Pro Condensed"/>
                <a:ea typeface="Georgia Pro Condensed"/>
                <a:cs typeface="Georgia Pro Condensed"/>
                <a:sym typeface="Georgia Pro Condensed"/>
              </a:rPr>
              <a:t>Öneri Sistemi</a:t>
            </a:r>
          </a:p>
        </p:txBody>
      </p:sp>
      <p:sp>
        <p:nvSpPr>
          <p:cNvPr name="TextBox 7" id="7"/>
          <p:cNvSpPr txBox="true"/>
          <p:nvPr/>
        </p:nvSpPr>
        <p:spPr>
          <a:xfrm rot="0">
            <a:off x="2809748" y="3780812"/>
            <a:ext cx="12668504" cy="3859106"/>
          </a:xfrm>
          <a:prstGeom prst="rect">
            <a:avLst/>
          </a:prstGeom>
        </p:spPr>
        <p:txBody>
          <a:bodyPr anchor="t" rtlCol="false" tIns="0" lIns="0" bIns="0" rIns="0">
            <a:spAutoFit/>
          </a:bodyPr>
          <a:lstStyle/>
          <a:p>
            <a:pPr algn="just" marL="0" indent="0" lvl="0">
              <a:lnSpc>
                <a:spcPts val="5168"/>
              </a:lnSpc>
            </a:pPr>
            <a:r>
              <a:rPr lang="en-US" sz="3691" spc="-55">
                <a:solidFill>
                  <a:srgbClr val="547A5A"/>
                </a:solidFill>
                <a:latin typeface="Helvetica World"/>
                <a:ea typeface="Helvetica World"/>
                <a:cs typeface="Helvetica World"/>
                <a:sym typeface="Helvetica World"/>
              </a:rPr>
              <a:t>Kural taban</a:t>
            </a:r>
            <a:r>
              <a:rPr lang="en-US" sz="3691" spc="-55" strike="noStrike" u="none">
                <a:solidFill>
                  <a:srgbClr val="547A5A"/>
                </a:solidFill>
                <a:latin typeface="Helvetica World"/>
                <a:ea typeface="Helvetica World"/>
                <a:cs typeface="Helvetica World"/>
                <a:sym typeface="Helvetica World"/>
              </a:rPr>
              <a:t>lı yapı, hastalıklara göre besinlerin yasak veya serbest olma durumlarını belirler. Rules koleksiyonu taranarak kullanıcıya uygun yiyecek listesi oluşturulur. Sistem, tıbbi beslenme kurallarına dayalıdır ve her kullanıcı için özelleştirilmiş sonuç üretir.</a:t>
            </a:r>
          </a:p>
          <a:p>
            <a:pPr algn="just" marL="0" indent="0" lvl="0">
              <a:lnSpc>
                <a:spcPts val="516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801686" y="2268579"/>
            <a:ext cx="9819356" cy="10699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547A5A"/>
                </a:solidFill>
                <a:latin typeface="Georgia Pro Condensed"/>
                <a:ea typeface="Georgia Pro Condensed"/>
                <a:cs typeface="Georgia Pro Condensed"/>
                <a:sym typeface="Georgia Pro Condensed"/>
              </a:rPr>
              <a:t>Haftalık Diyet Planı</a:t>
            </a:r>
          </a:p>
        </p:txBody>
      </p:sp>
      <p:sp>
        <p:nvSpPr>
          <p:cNvPr name="TextBox 7" id="7"/>
          <p:cNvSpPr txBox="true"/>
          <p:nvPr/>
        </p:nvSpPr>
        <p:spPr>
          <a:xfrm rot="0">
            <a:off x="2801686" y="3618428"/>
            <a:ext cx="12668504" cy="3859106"/>
          </a:xfrm>
          <a:prstGeom prst="rect">
            <a:avLst/>
          </a:prstGeom>
        </p:spPr>
        <p:txBody>
          <a:bodyPr anchor="t" rtlCol="false" tIns="0" lIns="0" bIns="0" rIns="0">
            <a:spAutoFit/>
          </a:bodyPr>
          <a:lstStyle/>
          <a:p>
            <a:pPr algn="just" marL="0" indent="0" lvl="0">
              <a:lnSpc>
                <a:spcPts val="5168"/>
              </a:lnSpc>
            </a:pPr>
            <a:r>
              <a:rPr lang="en-US" sz="3691" spc="-55">
                <a:solidFill>
                  <a:srgbClr val="547A5A"/>
                </a:solidFill>
                <a:latin typeface="Helvetica World"/>
                <a:ea typeface="Helvetica World"/>
                <a:cs typeface="Helvetica World"/>
                <a:sym typeface="Helvetica World"/>
              </a:rPr>
              <a:t>Haftalık plan, kullan</a:t>
            </a:r>
            <a:r>
              <a:rPr lang="en-US" sz="3691" spc="-55" strike="noStrike" u="none">
                <a:solidFill>
                  <a:srgbClr val="547A5A"/>
                </a:solidFill>
                <a:latin typeface="Helvetica World"/>
                <a:ea typeface="Helvetica World"/>
                <a:cs typeface="Helvetica World"/>
                <a:sym typeface="Helvetica World"/>
              </a:rPr>
              <a:t>ıcının hastalık bilgisine göre uygun liste_id değerleri çekilerek oluşturulur. Her yiyecek sabah–öğle–akşam–ara öğün olarak gruplara ayrılır. Yasaklı yiyecekler otomatik filtrelenir ve 7 günlük düzenli bir beslenme planı oluşturulup uygulamaya gönderilir.</a:t>
            </a:r>
          </a:p>
          <a:p>
            <a:pPr algn="just" marL="0" indent="0" lvl="0">
              <a:lnSpc>
                <a:spcPts val="5168"/>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7BFA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4465383" cy="2358123"/>
          </a:xfrm>
        </p:grpSpPr>
        <p:sp>
          <p:nvSpPr>
            <p:cNvPr name="Freeform 3" id="3"/>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3F7EF"/>
            </a:solidFill>
            <a:ln cap="rnd">
              <a:noFill/>
              <a:prstDash val="solid"/>
              <a:round/>
            </a:ln>
          </p:spPr>
        </p:sp>
        <p:sp>
          <p:nvSpPr>
            <p:cNvPr name="TextBox 4" id="4"/>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001355" y="3597871"/>
            <a:ext cx="12285290" cy="2079626"/>
          </a:xfrm>
          <a:prstGeom prst="rect">
            <a:avLst/>
          </a:prstGeom>
        </p:spPr>
        <p:txBody>
          <a:bodyPr anchor="t" rtlCol="false" tIns="0" lIns="0" bIns="0" rIns="0">
            <a:spAutoFit/>
          </a:bodyPr>
          <a:lstStyle/>
          <a:p>
            <a:pPr algn="ctr" marL="0" indent="0" lvl="0">
              <a:lnSpc>
                <a:spcPts val="8000"/>
              </a:lnSpc>
              <a:spcBef>
                <a:spcPct val="0"/>
              </a:spcBef>
            </a:pPr>
            <a:r>
              <a:rPr lang="en-US" sz="8000">
                <a:solidFill>
                  <a:srgbClr val="547A5A"/>
                </a:solidFill>
                <a:latin typeface="Georgia Pro Condensed"/>
                <a:ea typeface="Georgia Pro Condensed"/>
                <a:cs typeface="Georgia Pro Condensed"/>
                <a:sym typeface="Georgia Pro Condensed"/>
              </a:rPr>
              <a:t>Bizi Dinlediğiniz İçin Teşekkür Ederiz...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Sunum - Mobil Sağlıklı Beslenme Uygulaması</dc:description>
  <dc:identifier>DAG69YeO1qg</dc:identifier>
  <dcterms:modified xsi:type="dcterms:W3CDTF">2011-08-01T06:04:30Z</dcterms:modified>
  <cp:revision>1</cp:revision>
  <dc:title>Sunum - Mobil Sağlıklı Beslenme Uygulaması</dc:title>
</cp:coreProperties>
</file>